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8" r:id="rId22"/>
    <p:sldId id="279" r:id="rId23"/>
    <p:sldId id="280" r:id="rId24"/>
    <p:sldId id="282" r:id="rId25"/>
    <p:sldId id="303" r:id="rId26"/>
    <p:sldId id="305" r:id="rId27"/>
    <p:sldId id="306" r:id="rId28"/>
    <p:sldId id="307" r:id="rId29"/>
    <p:sldId id="284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8" r:id="rId42"/>
    <p:sldId id="300" r:id="rId43"/>
    <p:sldId id="301" r:id="rId44"/>
    <p:sldId id="302" r:id="rId45"/>
    <p:sldId id="299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1E2A3A"/>
    <a:srgbClr val="FFFFCC"/>
    <a:srgbClr val="FFFFFF"/>
    <a:srgbClr val="CCECFF"/>
    <a:srgbClr val="6600CC"/>
    <a:srgbClr val="6666FF"/>
    <a:srgbClr val="009999"/>
    <a:srgbClr val="006699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2" d="100"/>
          <a:sy n="42" d="100"/>
        </p:scale>
        <p:origin x="54" y="171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80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832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991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09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515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09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346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053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808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023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661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224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017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596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832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813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361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9AAD788-984C-44BC-A8AF-2EBEDD84248D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D7E0497-D2DB-48CD-98A8-8C823E76F5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351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7128" y="1857104"/>
            <a:ext cx="1799043" cy="369332"/>
          </a:xfrm>
          <a:prstGeom prst="rect">
            <a:avLst/>
          </a:prstGeom>
          <a:solidFill>
            <a:srgbClr val="1E2A3A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SQL PROJECT</a:t>
            </a:r>
            <a:endParaRPr lang="en-IN" dirty="0">
              <a:solidFill>
                <a:srgbClr val="00CC0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420916" y="2226434"/>
            <a:ext cx="12192000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cap="none" spc="0" dirty="0">
                <a:ln w="0"/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Tata Motors Sales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4344" y="3265712"/>
            <a:ext cx="4876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>
                    <a:alpha val="99000"/>
                  </a:schemeClr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A two-Table Relational Database</a:t>
            </a:r>
            <a:endParaRPr lang="en-IN" sz="1500" dirty="0">
              <a:solidFill>
                <a:schemeClr val="bg1">
                  <a:alpha val="99000"/>
                </a:schemeClr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480457" y="3730171"/>
            <a:ext cx="2598057" cy="0"/>
          </a:xfrm>
          <a:prstGeom prst="line">
            <a:avLst/>
          </a:prstGeom>
          <a:ln w="34925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349829" y="3976914"/>
            <a:ext cx="40349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NAME: RASHMIN PATIL</a:t>
            </a:r>
            <a:br>
              <a: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BATCH NO: KL352</a:t>
            </a:r>
            <a:br>
              <a: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</a:br>
            <a:br>
              <a: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TRAINER: ZAKAUR KHAN</a:t>
            </a:r>
            <a:endParaRPr lang="en-IN" sz="2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53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4115" y="624114"/>
            <a:ext cx="126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AGENDA</a:t>
            </a:r>
            <a:endParaRPr lang="en-IN" sz="1200" dirty="0">
              <a:solidFill>
                <a:srgbClr val="00CC0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5544" y="1022421"/>
            <a:ext cx="532229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anose="02040502050405020303" pitchFamily="18" charset="0"/>
                <a:ea typeface="Verdana" panose="020B0604030504040204" pitchFamily="34" charset="0"/>
              </a:rPr>
              <a:t>PROJECT OBJECTIVES</a:t>
            </a:r>
          </a:p>
        </p:txBody>
      </p:sp>
      <p:sp>
        <p:nvSpPr>
          <p:cNvPr id="6" name="TextBox 5"/>
          <p:cNvSpPr txBox="1">
            <a:spLocks noChangeAspect="1"/>
          </p:cNvSpPr>
          <p:nvPr/>
        </p:nvSpPr>
        <p:spPr>
          <a:xfrm>
            <a:off x="667657" y="2297073"/>
            <a:ext cx="10260000" cy="467342"/>
          </a:xfrm>
          <a:prstGeom prst="roundRect">
            <a:avLst/>
          </a:prstGeom>
          <a:solidFill>
            <a:srgbClr val="FFFFCC"/>
          </a:solidFill>
          <a:ln w="44450" cmpd="sng">
            <a:miter lim="800000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72000" rtlCol="0" anchor="ctr" anchorCtr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To analyze overall sales performance of Tata Motors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3144" y="2892157"/>
            <a:ext cx="10260000" cy="467342"/>
          </a:xfrm>
          <a:prstGeom prst="roundRect">
            <a:avLst/>
          </a:prstGeom>
          <a:solidFill>
            <a:srgbClr val="FFFFCC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80000" tIns="72000" rIns="144000" bIns="72000" rtlCol="0" anchor="ctr" anchorCtr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2. To Identify top performing Car Sale,Car Category and customers.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6684" y="3487244"/>
            <a:ext cx="10260000" cy="467342"/>
          </a:xfrm>
          <a:prstGeom prst="roundRect">
            <a:avLst/>
          </a:prstGeom>
          <a:solidFill>
            <a:srgbClr val="FFFFCC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72000" rtlCol="0" anchor="ctr" anchorCtr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3. TO evaluate monthly and Yearly Sales.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657" y="4082329"/>
            <a:ext cx="10260000" cy="467342"/>
          </a:xfrm>
          <a:prstGeom prst="roundRect">
            <a:avLst/>
          </a:prstGeom>
          <a:solidFill>
            <a:srgbClr val="FFFFCC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72000" rtlCol="0" anchor="ctr" anchorCtr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4. To measure which car model is profitable and generating sales.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657" y="4691929"/>
            <a:ext cx="10260000" cy="467342"/>
          </a:xfrm>
          <a:prstGeom prst="roundRect">
            <a:avLst/>
          </a:prstGeom>
          <a:solidFill>
            <a:srgbClr val="FFFFCC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80000" tIns="72000" rIns="180000" bIns="72000" rtlCol="0" anchor="ctr" anchorCtr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5. Using the SQL commands and Queries, generate the data-driven insights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184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7929" y="762392"/>
            <a:ext cx="632096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What This Presentation Covers</a:t>
            </a:r>
            <a:endParaRPr lang="en-US" sz="30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7900" y="312449"/>
            <a:ext cx="12250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IN" dirty="0">
              <a:solidFill>
                <a:srgbClr val="00CC00"/>
              </a:solidFill>
            </a:endParaRPr>
          </a:p>
        </p:txBody>
      </p:sp>
      <p:sp>
        <p:nvSpPr>
          <p:cNvPr id="4" name="Shape 32"/>
          <p:cNvSpPr/>
          <p:nvPr/>
        </p:nvSpPr>
        <p:spPr>
          <a:xfrm>
            <a:off x="659312" y="1872053"/>
            <a:ext cx="10800000" cy="540000"/>
          </a:xfrm>
          <a:prstGeom prst="roundRect">
            <a:avLst>
              <a:gd name="adj" fmla="val 10345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E3E7EB"/>
            </a:solidFill>
            <a:prstDash val="solid"/>
          </a:ln>
        </p:spPr>
        <p:txBody>
          <a:bodyPr tIns="108000" rIns="108000"/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01</a:t>
            </a:r>
            <a:r>
              <a:rPr lang="en-US" dirty="0"/>
              <a:t>	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DDL, DML &amp; DQL</a:t>
            </a:r>
            <a:r>
              <a:rPr lang="en-US" dirty="0"/>
              <a:t>			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CREATE, ALTER, DROP, TRUNCATE, INSERT, UPDATE, DELETE, SELECT 	</a:t>
            </a:r>
            <a:r>
              <a:rPr lang="en-US" dirty="0"/>
              <a:t>	</a:t>
            </a:r>
            <a:endParaRPr lang="en-IN" dirty="0"/>
          </a:p>
        </p:txBody>
      </p:sp>
      <p:sp>
        <p:nvSpPr>
          <p:cNvPr id="5" name="Shape 32"/>
          <p:cNvSpPr/>
          <p:nvPr/>
        </p:nvSpPr>
        <p:spPr>
          <a:xfrm>
            <a:off x="666568" y="2532453"/>
            <a:ext cx="10800000" cy="540000"/>
          </a:xfrm>
          <a:prstGeom prst="roundRect">
            <a:avLst>
              <a:gd name="adj" fmla="val 10345"/>
            </a:avLst>
          </a:prstGeom>
          <a:solidFill>
            <a:srgbClr val="FFFFCC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108000" rIns="108000"/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02</a:t>
            </a:r>
            <a:r>
              <a:rPr lang="en-US" dirty="0"/>
              <a:t>	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Filtering and Sorting</a:t>
            </a:r>
            <a:r>
              <a:rPr lang="en-US" dirty="0"/>
              <a:t>		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WHERE, ORDER BY, GROUP BY,HAVING, LIMIT &amp; OFFSET, BETWEEN, IN, LIKE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lain" startAt="2"/>
            </a:pPr>
            <a:endParaRPr lang="en-IN" dirty="0"/>
          </a:p>
        </p:txBody>
      </p:sp>
      <p:sp>
        <p:nvSpPr>
          <p:cNvPr id="6" name="Shape 32"/>
          <p:cNvSpPr/>
          <p:nvPr/>
        </p:nvSpPr>
        <p:spPr>
          <a:xfrm>
            <a:off x="673826" y="5790910"/>
            <a:ext cx="10800000" cy="540000"/>
          </a:xfrm>
          <a:prstGeom prst="roundRect">
            <a:avLst>
              <a:gd name="adj" fmla="val 10345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E3E7EB"/>
            </a:solidFill>
            <a:prstDash val="solid"/>
          </a:ln>
        </p:spPr>
        <p:txBody>
          <a:bodyPr tIns="108000" rIns="108000"/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07</a:t>
            </a:r>
            <a:r>
              <a:rPr lang="en-US" dirty="0"/>
              <a:t>	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Subqueries</a:t>
            </a:r>
            <a:r>
              <a:rPr lang="en-US" dirty="0"/>
              <a:t>			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SINGLE ROW, MULTI-ROW, CORRELATED, NESTED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32"/>
          <p:cNvSpPr/>
          <p:nvPr/>
        </p:nvSpPr>
        <p:spPr>
          <a:xfrm>
            <a:off x="681083" y="3838741"/>
            <a:ext cx="10800000" cy="540000"/>
          </a:xfrm>
          <a:prstGeom prst="roundRect">
            <a:avLst>
              <a:gd name="adj" fmla="val 10345"/>
            </a:avLst>
          </a:prstGeom>
          <a:solidFill>
            <a:srgbClr val="FFFFCC"/>
          </a:solidFill>
          <a:ln w="12700">
            <a:solidFill>
              <a:srgbClr val="E3E7EB"/>
            </a:solidFill>
            <a:prstDash val="solid"/>
          </a:ln>
        </p:spPr>
        <p:txBody>
          <a:bodyPr tIns="108000" rIns="108000"/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04</a:t>
            </a:r>
            <a:r>
              <a:rPr lang="en-US" dirty="0"/>
              <a:t>	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Function &amp; Logic</a:t>
            </a:r>
            <a:r>
              <a:rPr lang="en-US" dirty="0"/>
              <a:t>			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STRING, MATH,DATE AND TIME, COMPARISON, CASE</a:t>
            </a:r>
          </a:p>
          <a:p>
            <a:r>
              <a:rPr lang="en-US" dirty="0"/>
              <a:t>     </a:t>
            </a:r>
            <a:endParaRPr lang="en-IN" dirty="0"/>
          </a:p>
        </p:txBody>
      </p:sp>
      <p:sp>
        <p:nvSpPr>
          <p:cNvPr id="8" name="Shape 32"/>
          <p:cNvSpPr/>
          <p:nvPr/>
        </p:nvSpPr>
        <p:spPr>
          <a:xfrm>
            <a:off x="681083" y="5159538"/>
            <a:ext cx="10800000" cy="540000"/>
          </a:xfrm>
          <a:prstGeom prst="roundRect">
            <a:avLst>
              <a:gd name="adj" fmla="val 10345"/>
            </a:avLst>
          </a:prstGeom>
          <a:solidFill>
            <a:srgbClr val="FFFFCC"/>
          </a:solidFill>
          <a:ln w="12700">
            <a:solidFill>
              <a:srgbClr val="E3E7EB"/>
            </a:solidFill>
            <a:prstDash val="solid"/>
          </a:ln>
        </p:spPr>
        <p:txBody>
          <a:bodyPr lIns="108000" tIns="108000" rIns="108000" anchor="t" anchorCtr="0"/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06</a:t>
            </a: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Windows Function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RANK(), DENSERANK(), ROW_NUMBER(), OVER(),LAG().LEAD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32"/>
          <p:cNvSpPr/>
          <p:nvPr/>
        </p:nvSpPr>
        <p:spPr>
          <a:xfrm>
            <a:off x="666568" y="3185596"/>
            <a:ext cx="10800000" cy="540000"/>
          </a:xfrm>
          <a:prstGeom prst="roundRect">
            <a:avLst>
              <a:gd name="adj" fmla="val 10345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E3E7EB"/>
            </a:solidFill>
            <a:prstDash val="solid"/>
          </a:ln>
        </p:spPr>
        <p:txBody>
          <a:bodyPr tIns="108000" rIns="108000"/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03</a:t>
            </a: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Aggregate Function</a:t>
            </a:r>
            <a:r>
              <a:rPr lang="en-US" dirty="0"/>
              <a:t>			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SUM(), COUNT(), AVG(), MIN(), MAX()</a:t>
            </a:r>
          </a:p>
        </p:txBody>
      </p:sp>
      <p:sp>
        <p:nvSpPr>
          <p:cNvPr id="10" name="Shape 32"/>
          <p:cNvSpPr/>
          <p:nvPr/>
        </p:nvSpPr>
        <p:spPr>
          <a:xfrm>
            <a:off x="681083" y="4491882"/>
            <a:ext cx="10800000" cy="540000"/>
          </a:xfrm>
          <a:prstGeom prst="roundRect">
            <a:avLst>
              <a:gd name="adj" fmla="val 10345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E3E7EB"/>
            </a:solidFill>
            <a:prstDash val="solid"/>
          </a:ln>
        </p:spPr>
        <p:txBody>
          <a:bodyPr tIns="108000" rIns="108000"/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05</a:t>
            </a:r>
            <a:r>
              <a:rPr lang="en-US" dirty="0"/>
              <a:t>	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Joins</a:t>
            </a:r>
            <a:r>
              <a:rPr lang="en-US" dirty="0"/>
              <a:t>				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INNER JOIN, LEFT JOIN, RIGHT JOIN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698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84309" y="362977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200" dirty="0">
              <a:solidFill>
                <a:srgbClr val="00CC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5121" y="561950"/>
            <a:ext cx="74270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TATA MOTORS Database: Two Related Tables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066" y="899368"/>
            <a:ext cx="965512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simplified, relational version of the classic Superstore dataset — split into a Customers table and an Orders table, linked by CustomerID.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329" y="1302079"/>
            <a:ext cx="5498614" cy="4917981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4422207" y="6226183"/>
            <a:ext cx="2566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Diagram </a:t>
            </a:r>
            <a:b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to ONE RELATIONSHIP</a:t>
            </a:r>
            <a:endParaRPr lang="en-IN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883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1637" y="3941019"/>
            <a:ext cx="5001690" cy="984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DDL, DML &amp; DQL</a:t>
            </a:r>
            <a:endParaRPr lang="en-US" sz="4000" dirty="0">
              <a:latin typeface="Georgia" panose="02040502050405020303" pitchFamily="18" charset="0"/>
            </a:endParaRP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17713" y="470240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C9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and modifying the database structure and its data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246744" y="3294742"/>
            <a:ext cx="2656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CC00"/>
                </a:solidFill>
                <a:latin typeface="Consolas" panose="020B0609020204030204" pitchFamily="49" charset="0"/>
              </a:rPr>
              <a:t>Section 01/07</a:t>
            </a:r>
            <a:endParaRPr lang="en-IN" sz="2000" dirty="0">
              <a:solidFill>
                <a:srgbClr val="00CC00"/>
              </a:solidFill>
              <a:latin typeface="Consolas" panose="020B0609020204030204" pitchFamily="49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29560" y="3106057"/>
            <a:ext cx="2181284" cy="5232"/>
          </a:xfrm>
          <a:prstGeom prst="line">
            <a:avLst/>
          </a:prstGeom>
          <a:ln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029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0441" y="526320"/>
            <a:ext cx="5285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01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Creating a New Table (CREATE TABLE)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8049" y="94129"/>
            <a:ext cx="17331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DDL,DML &amp; DQL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29" y="1190171"/>
            <a:ext cx="4228969" cy="20174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6167" y="3447534"/>
            <a:ext cx="5431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02.Inserting Into the Table(INSERT TABLE)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723" y="4215425"/>
            <a:ext cx="6239106" cy="196950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71" y="4217450"/>
            <a:ext cx="4198700" cy="1980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014" y="1206698"/>
            <a:ext cx="6264272" cy="201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214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94129"/>
            <a:ext cx="18181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DDL,DML</a:t>
            </a:r>
            <a:r>
              <a:rPr lang="en-US" sz="14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&amp; DQL</a:t>
            </a:r>
          </a:p>
        </p:txBody>
      </p:sp>
      <p:sp>
        <p:nvSpPr>
          <p:cNvPr id="3" name="Rectangle 2"/>
          <p:cNvSpPr/>
          <p:nvPr/>
        </p:nvSpPr>
        <p:spPr>
          <a:xfrm>
            <a:off x="587907" y="565595"/>
            <a:ext cx="39469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03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Alter  Table (ALTER TABLE)</a:t>
            </a:r>
          </a:p>
          <a:p>
            <a:r>
              <a:rPr lang="en-US" i="1" dirty="0">
                <a:solidFill>
                  <a:srgbClr val="00CC00"/>
                </a:solidFill>
                <a:latin typeface="Georgia" pitchFamily="34" charset="0"/>
              </a:rPr>
              <a:t>     </a:t>
            </a:r>
            <a:r>
              <a:rPr lang="en-US" sz="1400" i="1" dirty="0">
                <a:solidFill>
                  <a:srgbClr val="00CC00"/>
                </a:solidFill>
                <a:latin typeface="Georgia" pitchFamily="34" charset="0"/>
              </a:rPr>
              <a:t>ADD Column</a:t>
            </a:r>
            <a:endParaRPr lang="en-US" sz="1400" i="1" dirty="0">
              <a:solidFill>
                <a:srgbClr val="00CC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69" y="1294591"/>
            <a:ext cx="4075412" cy="20001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541" y="1277257"/>
            <a:ext cx="6512887" cy="20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4600" y="3447534"/>
            <a:ext cx="39469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04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Alter  Table (ALTER TABLE)</a:t>
            </a:r>
          </a:p>
          <a:p>
            <a:r>
              <a:rPr lang="en-US" i="1" dirty="0">
                <a:solidFill>
                  <a:srgbClr val="00CC00"/>
                </a:solidFill>
                <a:latin typeface="Georgia" pitchFamily="34" charset="0"/>
              </a:rPr>
              <a:t>      </a:t>
            </a:r>
            <a:r>
              <a:rPr lang="en-US" sz="1400" i="1" dirty="0">
                <a:solidFill>
                  <a:srgbClr val="00CC00"/>
                </a:solidFill>
                <a:latin typeface="Georgia" pitchFamily="34" charset="0"/>
              </a:rPr>
              <a:t>Delete Row</a:t>
            </a:r>
            <a:endParaRPr lang="en-US" sz="1400" i="1" dirty="0">
              <a:solidFill>
                <a:srgbClr val="00CC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69" y="4244945"/>
            <a:ext cx="4146717" cy="20832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636" y="4238171"/>
            <a:ext cx="6502278" cy="21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50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763" y="167306"/>
            <a:ext cx="17331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DDL,DML &amp; DQL</a:t>
            </a:r>
          </a:p>
        </p:txBody>
      </p:sp>
      <p:sp>
        <p:nvSpPr>
          <p:cNvPr id="3" name="Rectangle 2"/>
          <p:cNvSpPr/>
          <p:nvPr/>
        </p:nvSpPr>
        <p:spPr>
          <a:xfrm>
            <a:off x="523000" y="544677"/>
            <a:ext cx="67537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05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Update Table (UPDATE TABLE)</a:t>
            </a:r>
          </a:p>
          <a:p>
            <a:r>
              <a:rPr lang="en-US" sz="14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  </a:t>
            </a:r>
            <a:r>
              <a:rPr lang="en-US" sz="1400" i="1" dirty="0">
                <a:solidFill>
                  <a:srgbClr val="00C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 the Dealer_name of order_id: TM2023006 from Nagpur to Mumbai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73" y="1280844"/>
            <a:ext cx="4558061" cy="198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702" y="1269249"/>
            <a:ext cx="6106468" cy="1980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9492343" y="2249714"/>
            <a:ext cx="870857" cy="3628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5138056" y="2235200"/>
            <a:ext cx="870858" cy="3628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449943" y="3518878"/>
            <a:ext cx="1174205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06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Truncate Table (TRUNCATE TABLE)</a:t>
            </a:r>
          </a:p>
          <a:p>
            <a:r>
              <a:rPr lang="en-US" sz="1400" b="1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 </a:t>
            </a:r>
            <a:r>
              <a:rPr lang="en-US" sz="1400" b="1" i="1" dirty="0">
                <a:solidFill>
                  <a:srgbClr val="00C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Deletes the entire row of the table, leaving only table structure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15" y="4307764"/>
            <a:ext cx="4553300" cy="20785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621" y="4306376"/>
            <a:ext cx="6172636" cy="207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031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764" y="167305"/>
            <a:ext cx="1794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DDL,DML</a:t>
            </a:r>
            <a:r>
              <a:rPr lang="en-US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r>
              <a:rPr lang="en-US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DQL</a:t>
            </a:r>
            <a:endParaRPr lang="en-US" b="1" kern="0" spc="200" dirty="0">
              <a:solidFill>
                <a:srgbClr val="00CC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4114" y="485392"/>
            <a:ext cx="955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07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Select Table (SELECT TABLE)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978116" y="776906"/>
            <a:ext cx="30396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i="1" dirty="0">
                <a:solidFill>
                  <a:srgbClr val="00C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Viewing All Records in a Table</a:t>
            </a:r>
            <a:endParaRPr lang="en-US" sz="1400" b="1" i="1" dirty="0">
              <a:solidFill>
                <a:srgbClr val="00CC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71" y="1263406"/>
            <a:ext cx="4528457" cy="16684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744" y="1265120"/>
            <a:ext cx="6066970" cy="1686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281" y="3273363"/>
            <a:ext cx="6072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07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Select Column from Table (SELECT COLUMN)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463" y="3578163"/>
            <a:ext cx="5806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Viewing specific column for Records in a Table</a:t>
            </a:r>
            <a:endParaRPr lang="en-US" b="1" i="1" dirty="0">
              <a:solidFill>
                <a:srgbClr val="00CC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82" y="4230433"/>
            <a:ext cx="4531947" cy="115436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966" y="4234618"/>
            <a:ext cx="5990748" cy="213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470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2125" y="3302391"/>
            <a:ext cx="1830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Section 02/07</a:t>
            </a:r>
            <a:endParaRPr lang="en-IN" dirty="0">
              <a:solidFill>
                <a:srgbClr val="00CC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5143" y="3970048"/>
            <a:ext cx="51122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Filtering &amp; Sorting</a:t>
            </a:r>
            <a:endParaRPr lang="en-US" sz="4000" dirty="0">
              <a:latin typeface="Georgia" panose="020405020504050203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3740" y="4695762"/>
            <a:ext cx="7404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9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Selecting, filtering, sorting, and de-duplicating rows from a single table.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90286" y="3164114"/>
            <a:ext cx="1944915" cy="0"/>
          </a:xfrm>
          <a:prstGeom prst="line">
            <a:avLst/>
          </a:prstGeom>
          <a:ln w="9525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495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763" y="297934"/>
            <a:ext cx="23855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&amp; SORTING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160" y="588219"/>
            <a:ext cx="38972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01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Filtering Rows with WHERE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2244" y="907534"/>
            <a:ext cx="83470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i="1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me the Total Count of </a:t>
            </a:r>
            <a:r>
              <a:rPr lang="en-US" sz="1600" b="1" i="1" dirty="0" err="1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Vehicle_Model</a:t>
            </a:r>
            <a:r>
              <a:rPr lang="en-US" sz="1600" b="1" i="1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Tata safari and Tata Nexon in Pune city .</a:t>
            </a:r>
            <a:endParaRPr lang="en-US" sz="1600" b="1" i="1" dirty="0">
              <a:solidFill>
                <a:srgbClr val="00CC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40" y="1397183"/>
            <a:ext cx="9836573" cy="2086246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54" y="3742384"/>
            <a:ext cx="9882601" cy="172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150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816" y="530163"/>
            <a:ext cx="4203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02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Filtering Rows with GROUP BY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808" y="254391"/>
            <a:ext cx="23855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&amp; SORTING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96" y="1267453"/>
            <a:ext cx="9113161" cy="19982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002" y="3388788"/>
            <a:ext cx="9111770" cy="32442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742" y="827314"/>
            <a:ext cx="9622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Total Sum of On_Road_price of all the the vehicle whose fuel type is petrol</a:t>
            </a:r>
            <a:endParaRPr lang="en-IN" sz="1600" i="1" dirty="0">
              <a:solidFill>
                <a:srgbClr val="00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52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0" y="196334"/>
            <a:ext cx="23855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&amp; SORTING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23788" y="414048"/>
            <a:ext cx="3930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03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Filtering Rows with HAVING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25714" y="710978"/>
            <a:ext cx="97245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Total_Loan_amount Distributed by Finance_company in Transmission_type “</a:t>
            </a:r>
            <a:r>
              <a:rPr lang="en-US" sz="16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AMT</a:t>
            </a:r>
            <a:r>
              <a:rPr lang="en-US" sz="1600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in all the city.</a:t>
            </a:r>
            <a:endParaRPr lang="en-IN" sz="1600" i="1" dirty="0">
              <a:solidFill>
                <a:srgbClr val="00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125" y="1129095"/>
            <a:ext cx="9599132" cy="22091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44" y="3465811"/>
            <a:ext cx="9571999" cy="315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246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323" y="225362"/>
            <a:ext cx="23855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&amp; SORTING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23194" y="457591"/>
            <a:ext cx="42659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04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Filtering Rows with ORDER BY</a:t>
            </a:r>
          </a:p>
        </p:txBody>
      </p:sp>
      <p:sp>
        <p:nvSpPr>
          <p:cNvPr id="4" name="Rectangle 3"/>
          <p:cNvSpPr/>
          <p:nvPr/>
        </p:nvSpPr>
        <p:spPr>
          <a:xfrm>
            <a:off x="754742" y="761164"/>
            <a:ext cx="97390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total_sum of Ex_Showroom_price in Kolkata City and show it in Dealer_city Grouped. </a:t>
            </a:r>
            <a:endParaRPr lang="en-IN" sz="1600" b="1" i="1" dirty="0">
              <a:solidFill>
                <a:srgbClr val="00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89" y="1193715"/>
            <a:ext cx="9548353" cy="2333256"/>
          </a:xfrm>
          <a:prstGeom prst="rect">
            <a:avLst/>
          </a:prstGeom>
          <a:solidFill>
            <a:srgbClr val="FFFFCC"/>
          </a:solidFill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74" y="3666538"/>
            <a:ext cx="9529355" cy="3039062"/>
          </a:xfrm>
          <a:prstGeom prst="rect">
            <a:avLst/>
          </a:prstGeom>
          <a:solidFill>
            <a:srgbClr val="FFFFCC"/>
          </a:solidFill>
        </p:spPr>
      </p:pic>
    </p:spTree>
    <p:extLst>
      <p:ext uri="{BB962C8B-B14F-4D97-AF65-F5344CB8AC3E}">
        <p14:creationId xmlns:p14="http://schemas.microsoft.com/office/powerpoint/2010/main" val="1910995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351" y="297935"/>
            <a:ext cx="23855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&amp; SORTING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8299" y="544677"/>
            <a:ext cx="4174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05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Filtering Rows with BETWEEN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799" y="870635"/>
            <a:ext cx="95939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EMI_Tenure_month between 20 to 40 Month of Tata Nexon for all the Customer</a:t>
            </a:r>
            <a:endParaRPr lang="en-IN" sz="1600" b="1" i="1" dirty="0">
              <a:solidFill>
                <a:srgbClr val="00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29" y="1482651"/>
            <a:ext cx="9608457" cy="2131405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71" y="3764949"/>
            <a:ext cx="9627315" cy="2853565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733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6522" y="312448"/>
            <a:ext cx="23855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&amp; SORTING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99471" y="544676"/>
            <a:ext cx="4923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06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Filtering Rows with LIMIT &amp; OFFSET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5999" y="841607"/>
            <a:ext cx="94197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EMI_Tenure_month between 20 to 40 Month of Tata Nexon for all the Customer with Limit of 5 and starting from 6</a:t>
            </a:r>
            <a:r>
              <a:rPr lang="en-US" sz="1600" b="1" i="1" baseline="30000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600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row</a:t>
            </a:r>
            <a:endParaRPr lang="en-IN" sz="1600" b="1" i="1" dirty="0">
              <a:solidFill>
                <a:srgbClr val="00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83" y="3933371"/>
            <a:ext cx="5881731" cy="2743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41" y="1527318"/>
            <a:ext cx="5834859" cy="221736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680" y="1503278"/>
            <a:ext cx="5907206" cy="22704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742" y="3927571"/>
            <a:ext cx="5911658" cy="270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38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313" y="841606"/>
            <a:ext cx="959394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the Total_Vehicle of Only “AMT” and “DCA” by grouping in </a:t>
            </a:r>
            <a:r>
              <a:rPr lang="en-US" sz="1600" b="1" i="1" dirty="0" err="1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Dealer_name</a:t>
            </a:r>
            <a:r>
              <a:rPr lang="en-US" sz="1600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600" b="1" i="1" dirty="0">
              <a:solidFill>
                <a:srgbClr val="00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2885" y="515648"/>
            <a:ext cx="31838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07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Filtering Rows with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408" y="268905"/>
            <a:ext cx="23855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&amp; SORTING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55" y="1346585"/>
            <a:ext cx="9500187" cy="22819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82" y="3744685"/>
            <a:ext cx="9509361" cy="300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56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6522" y="283420"/>
            <a:ext cx="23855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&amp; SORTING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4485" y="501134"/>
            <a:ext cx="3405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08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Filtering Rows with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99" y="812577"/>
            <a:ext cx="95068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the Total_Vehicle of Only “AMT” and “DCA” by grouping in </a:t>
            </a:r>
            <a:r>
              <a:rPr lang="en-US" sz="1600" b="1" i="1" dirty="0" err="1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Dealer_name</a:t>
            </a:r>
            <a:r>
              <a:rPr lang="en-US" sz="1600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600" b="1" i="1" dirty="0">
              <a:solidFill>
                <a:srgbClr val="00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79" y="1259148"/>
            <a:ext cx="4350592" cy="54609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841" y="1216632"/>
            <a:ext cx="5683616" cy="17152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515" y="3035680"/>
            <a:ext cx="5709455" cy="17975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8343" y="4934857"/>
            <a:ext cx="5747657" cy="175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131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2125" y="3302391"/>
            <a:ext cx="1830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Section 03/07</a:t>
            </a:r>
            <a:endParaRPr lang="en-IN" dirty="0">
              <a:solidFill>
                <a:srgbClr val="00CC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1600" y="3999077"/>
            <a:ext cx="5339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Aggregate Function</a:t>
            </a:r>
            <a:endParaRPr lang="en-US" sz="4000" dirty="0">
              <a:latin typeface="Georgia" panose="020405020504050203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9225" y="4710277"/>
            <a:ext cx="5720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9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Summarizing data with COUNT, SUM, AVG,MIN,MAX.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90286" y="3164114"/>
            <a:ext cx="1944915" cy="0"/>
          </a:xfrm>
          <a:prstGeom prst="line">
            <a:avLst/>
          </a:prstGeom>
          <a:ln w="9525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172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443" y="205299"/>
            <a:ext cx="24513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AGGREFATE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1039" y="474240"/>
            <a:ext cx="3536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01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Aggregate Function: SUM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the Total Sum Discount_amount for Vehicle_model Tata Punch</a:t>
            </a:r>
            <a:endParaRPr lang="en-IN" b="1" i="1" dirty="0">
              <a:solidFill>
                <a:srgbClr val="00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77" y="1388061"/>
            <a:ext cx="9782541" cy="20678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34" y="3625847"/>
            <a:ext cx="9793884" cy="293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08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443" y="205299"/>
            <a:ext cx="24513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AGGREFATE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1039" y="474240"/>
            <a:ext cx="41889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02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Aggregate Function: AVERAGE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the Average of EMI Tenure for dealer in Tata Tiago Model</a:t>
            </a:r>
            <a:endParaRPr lang="en-IN" b="1" i="1" dirty="0">
              <a:solidFill>
                <a:srgbClr val="00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35" y="1361098"/>
            <a:ext cx="9783236" cy="22965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30" y="3754566"/>
            <a:ext cx="9788055" cy="287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638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443" y="205299"/>
            <a:ext cx="24513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AGGREFATE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1039" y="474240"/>
            <a:ext cx="38587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03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Aggregate Function: COUNT</a:t>
            </a:r>
          </a:p>
          <a:p>
            <a:endParaRPr lang="en-US" b="1" dirty="0">
              <a:solidFill>
                <a:schemeClr val="bg1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the the total Count of  Tata Harries Vehicle_model in all city </a:t>
            </a:r>
            <a:endParaRPr lang="en-IN" b="1" i="1" dirty="0">
              <a:solidFill>
                <a:srgbClr val="00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6" y="1303043"/>
            <a:ext cx="9810200" cy="23690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58" y="3817257"/>
            <a:ext cx="9805042" cy="277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41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443" y="205299"/>
            <a:ext cx="24513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AGGREFATE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1039" y="474240"/>
            <a:ext cx="3491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04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Aggregate Function: 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the Min Down_payment Each Vehicle_model has</a:t>
            </a:r>
            <a:endParaRPr lang="en-IN" b="1" i="1" dirty="0">
              <a:solidFill>
                <a:srgbClr val="00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28" y="1302368"/>
            <a:ext cx="9817758" cy="23842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98" y="3817387"/>
            <a:ext cx="9809988" cy="261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65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443" y="205299"/>
            <a:ext cx="24513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AGGREFATE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1039" y="474240"/>
            <a:ext cx="35557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05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Aggregate Function: MAX</a:t>
            </a:r>
          </a:p>
          <a:p>
            <a:endParaRPr lang="en-US" b="1" dirty="0">
              <a:solidFill>
                <a:schemeClr val="bg1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 the max emit tenure of Tata Altroz in Petrol Varient in all the city</a:t>
            </a:r>
            <a:endParaRPr lang="en-IN" b="1" i="1" dirty="0">
              <a:solidFill>
                <a:srgbClr val="00CC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06" y="1308930"/>
            <a:ext cx="9761851" cy="23486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11" y="3783370"/>
            <a:ext cx="9807375" cy="280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251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508688-FC3C-4162-E403-C8E15094D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123D34-C00E-24CB-4327-D37BAB391650}"/>
              </a:ext>
            </a:extLst>
          </p:cNvPr>
          <p:cNvSpPr/>
          <p:nvPr/>
        </p:nvSpPr>
        <p:spPr>
          <a:xfrm>
            <a:off x="202125" y="3302391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Section 0/07</a:t>
            </a:r>
            <a:endParaRPr lang="en-IN" dirty="0">
              <a:solidFill>
                <a:srgbClr val="00CC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1F2DF3-73FA-A515-A86E-9C698B632166}"/>
              </a:ext>
            </a:extLst>
          </p:cNvPr>
          <p:cNvSpPr/>
          <p:nvPr/>
        </p:nvSpPr>
        <p:spPr>
          <a:xfrm>
            <a:off x="101600" y="3999077"/>
            <a:ext cx="19030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JOINS</a:t>
            </a:r>
            <a:endParaRPr lang="en-US" sz="4000" dirty="0">
              <a:latin typeface="Georgia" panose="020405020504050203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3ACD57-D713-131F-A656-CFB53C494255}"/>
              </a:ext>
            </a:extLst>
          </p:cNvPr>
          <p:cNvSpPr/>
          <p:nvPr/>
        </p:nvSpPr>
        <p:spPr>
          <a:xfrm>
            <a:off x="119225" y="4710277"/>
            <a:ext cx="4331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INNER JOIN, LEFT JOIN, RIGHT JOIN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385401-85AC-74FE-D4F6-39CACEA9AFEC}"/>
              </a:ext>
            </a:extLst>
          </p:cNvPr>
          <p:cNvCxnSpPr/>
          <p:nvPr/>
        </p:nvCxnSpPr>
        <p:spPr>
          <a:xfrm>
            <a:off x="290286" y="3164114"/>
            <a:ext cx="1944915" cy="0"/>
          </a:xfrm>
          <a:prstGeom prst="line">
            <a:avLst/>
          </a:prstGeom>
          <a:ln w="9525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726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166F7D-F4AC-5021-2B1E-AA657C23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BA699D-A78F-D2C4-4C59-8D8AABD32903}"/>
              </a:ext>
            </a:extLst>
          </p:cNvPr>
          <p:cNvSpPr/>
          <p:nvPr/>
        </p:nvSpPr>
        <p:spPr>
          <a:xfrm>
            <a:off x="201443" y="205299"/>
            <a:ext cx="7745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JOINS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09F9F2-C653-4605-8C08-49FD50FC2B12}"/>
              </a:ext>
            </a:extLst>
          </p:cNvPr>
          <p:cNvSpPr/>
          <p:nvPr/>
        </p:nvSpPr>
        <p:spPr>
          <a:xfrm>
            <a:off x="561039" y="474240"/>
            <a:ext cx="2021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01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INNER JOIN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D5DB87-790B-B186-4E2D-F264039AD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4" y="1783473"/>
            <a:ext cx="4213156" cy="28531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D27ED1-2B59-D50A-6A11-2DB30F5E7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815" y="1783473"/>
            <a:ext cx="5458587" cy="28531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88C382-0448-E773-894E-D9A667F623DC}"/>
              </a:ext>
            </a:extLst>
          </p:cNvPr>
          <p:cNvSpPr txBox="1"/>
          <p:nvPr/>
        </p:nvSpPr>
        <p:spPr>
          <a:xfrm>
            <a:off x="858981" y="791217"/>
            <a:ext cx="9531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CC00"/>
                </a:solidFill>
              </a:rPr>
              <a:t>Returns </a:t>
            </a:r>
            <a:r>
              <a:rPr lang="en-US" b="1" dirty="0">
                <a:solidFill>
                  <a:srgbClr val="00CC00"/>
                </a:solidFill>
              </a:rPr>
              <a:t>only the matching records</a:t>
            </a:r>
            <a:r>
              <a:rPr lang="en-US" dirty="0">
                <a:solidFill>
                  <a:srgbClr val="00CC00"/>
                </a:solidFill>
              </a:rPr>
              <a:t> from both tables.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CC00"/>
                </a:solidFill>
              </a:rPr>
              <a:t>Non-matching rows are excluded.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2562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1EDB43-BDCC-E4D0-BE25-5505F496B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DF83B5-D469-944D-EF45-34676FE53770}"/>
              </a:ext>
            </a:extLst>
          </p:cNvPr>
          <p:cNvSpPr/>
          <p:nvPr/>
        </p:nvSpPr>
        <p:spPr>
          <a:xfrm>
            <a:off x="201443" y="205299"/>
            <a:ext cx="7745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JOINS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E2A23D-72FC-956D-78E1-9DCE12B89054}"/>
              </a:ext>
            </a:extLst>
          </p:cNvPr>
          <p:cNvSpPr/>
          <p:nvPr/>
        </p:nvSpPr>
        <p:spPr>
          <a:xfrm>
            <a:off x="561039" y="474240"/>
            <a:ext cx="1887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02 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LEFT JOIN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69FC28-94A9-557E-AADF-8241413BB1FD}"/>
              </a:ext>
            </a:extLst>
          </p:cNvPr>
          <p:cNvSpPr txBox="1"/>
          <p:nvPr/>
        </p:nvSpPr>
        <p:spPr>
          <a:xfrm>
            <a:off x="858981" y="791217"/>
            <a:ext cx="953192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CC00"/>
                </a:solidFill>
              </a:rPr>
              <a:t>Returns </a:t>
            </a:r>
            <a:r>
              <a:rPr lang="en-US" sz="1600" b="1" dirty="0">
                <a:solidFill>
                  <a:srgbClr val="00CC00"/>
                </a:solidFill>
              </a:rPr>
              <a:t>all records from the left table</a:t>
            </a:r>
            <a:r>
              <a:rPr lang="en-US" sz="1600" dirty="0">
                <a:solidFill>
                  <a:srgbClr val="00CC00"/>
                </a:solidFill>
              </a:rPr>
              <a:t> and the matching records from the right table.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CC00"/>
                </a:solidFill>
              </a:rPr>
              <a:t>If there is no match, </a:t>
            </a:r>
            <a:r>
              <a:rPr lang="en-US" sz="1600" b="1" dirty="0">
                <a:solidFill>
                  <a:srgbClr val="00CC00"/>
                </a:solidFill>
              </a:rPr>
              <a:t>NULL</a:t>
            </a:r>
            <a:r>
              <a:rPr lang="en-US" sz="1600" dirty="0">
                <a:solidFill>
                  <a:srgbClr val="00CC00"/>
                </a:solidFill>
              </a:rPr>
              <a:t> values are returned for the right table.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88021-B2F5-F185-1CC4-350EDDF36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4" y="1905440"/>
            <a:ext cx="3826895" cy="2731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9FE69C-7ECF-D29C-4BE8-02DA2A5856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365" y="1905440"/>
            <a:ext cx="5583908" cy="273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383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EF173-B6A1-C76C-5AC3-03504264E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233A1A-A582-10F4-35B9-FC54CAE0EC22}"/>
              </a:ext>
            </a:extLst>
          </p:cNvPr>
          <p:cNvSpPr/>
          <p:nvPr/>
        </p:nvSpPr>
        <p:spPr>
          <a:xfrm>
            <a:off x="201443" y="205299"/>
            <a:ext cx="77457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JOINS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2E4004-F65B-40E9-AB6E-304FB8054D7E}"/>
              </a:ext>
            </a:extLst>
          </p:cNvPr>
          <p:cNvSpPr/>
          <p:nvPr/>
        </p:nvSpPr>
        <p:spPr>
          <a:xfrm>
            <a:off x="561039" y="474240"/>
            <a:ext cx="2021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03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RIGHT JOIN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CFBD57-40C8-6665-5BF8-F0E1195EC9EF}"/>
              </a:ext>
            </a:extLst>
          </p:cNvPr>
          <p:cNvSpPr txBox="1"/>
          <p:nvPr/>
        </p:nvSpPr>
        <p:spPr>
          <a:xfrm>
            <a:off x="858981" y="791217"/>
            <a:ext cx="953192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CC00"/>
                </a:solidFill>
              </a:rPr>
              <a:t>Returns </a:t>
            </a:r>
            <a:r>
              <a:rPr lang="en-US" sz="1600" b="1" dirty="0">
                <a:solidFill>
                  <a:srgbClr val="00CC00"/>
                </a:solidFill>
              </a:rPr>
              <a:t>all records from the right table</a:t>
            </a:r>
            <a:r>
              <a:rPr lang="en-US" sz="1600" dirty="0">
                <a:solidFill>
                  <a:srgbClr val="00CC00"/>
                </a:solidFill>
              </a:rPr>
              <a:t> and the matching records from the left table.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CC00"/>
                </a:solidFill>
              </a:rPr>
              <a:t>If there is no match, </a:t>
            </a:r>
            <a:r>
              <a:rPr lang="en-US" sz="1600" b="1" dirty="0">
                <a:solidFill>
                  <a:srgbClr val="00CC00"/>
                </a:solidFill>
              </a:rPr>
              <a:t>NULL</a:t>
            </a:r>
            <a:r>
              <a:rPr lang="en-US" sz="1600" dirty="0">
                <a:solidFill>
                  <a:srgbClr val="00CC00"/>
                </a:solidFill>
              </a:rPr>
              <a:t> values are returned for the left table.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DA8E2-6773-9022-B0F8-A3B732599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138" y="1906279"/>
            <a:ext cx="4107661" cy="27211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755731-6095-03DB-BF9C-32787AA5A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906" y="1906279"/>
            <a:ext cx="5410955" cy="272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718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2125" y="3302391"/>
            <a:ext cx="1830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Section 04/07</a:t>
            </a:r>
            <a:endParaRPr lang="en-IN" dirty="0">
              <a:solidFill>
                <a:srgbClr val="00CC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1600" y="3999077"/>
            <a:ext cx="49279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Functions &amp; Logic</a:t>
            </a:r>
            <a:endParaRPr lang="en-US" sz="4000" dirty="0">
              <a:latin typeface="Georgia" panose="020405020504050203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9225" y="4710277"/>
            <a:ext cx="2800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9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string, Math, date 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90286" y="3164114"/>
            <a:ext cx="1944915" cy="0"/>
          </a:xfrm>
          <a:prstGeom prst="line">
            <a:avLst/>
          </a:prstGeom>
          <a:ln w="9525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686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443" y="205299"/>
            <a:ext cx="2076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FUNCTION &amp;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61039" y="474240"/>
            <a:ext cx="28825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01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STRING FUNCTION</a:t>
            </a:r>
          </a:p>
          <a:p>
            <a:endParaRPr lang="en-US" b="1" dirty="0">
              <a:solidFill>
                <a:schemeClr val="bg1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UPPERCASE                                                  02 LOWERCASE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6AA160-76F3-332A-9D31-C49142FFA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43" y="1189167"/>
            <a:ext cx="4400919" cy="21235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1EF21A-41BD-16F5-0FDF-DCE9FA8EAF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44" y="3545305"/>
            <a:ext cx="4400919" cy="31073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E926C4-27C9-2B07-D544-C068D079C3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928" y="1189166"/>
            <a:ext cx="5094648" cy="212352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834D913-22D2-AC73-2949-9F78079580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680" y="3545304"/>
            <a:ext cx="5110896" cy="310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024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AECB3-E99A-3BE2-7894-4A843F93C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0C8E90-2137-391D-485E-125D9257B8C0}"/>
              </a:ext>
            </a:extLst>
          </p:cNvPr>
          <p:cNvSpPr/>
          <p:nvPr/>
        </p:nvSpPr>
        <p:spPr>
          <a:xfrm>
            <a:off x="201443" y="205299"/>
            <a:ext cx="2076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FUNCTION &amp;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7C9856-B569-080B-0067-D99C8433C118}"/>
              </a:ext>
            </a:extLst>
          </p:cNvPr>
          <p:cNvSpPr/>
          <p:nvPr/>
        </p:nvSpPr>
        <p:spPr>
          <a:xfrm>
            <a:off x="561039" y="474240"/>
            <a:ext cx="28825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01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STRING FUNCTION</a:t>
            </a:r>
          </a:p>
          <a:p>
            <a:endParaRPr lang="en-US" b="1" dirty="0">
              <a:solidFill>
                <a:schemeClr val="bg1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24843E-7C89-3C83-C0A4-D8339D094598}"/>
              </a:ext>
            </a:extLst>
          </p:cNvPr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LENGTH                                                             04 SUB-STRING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7B8F50-59B6-CB47-AFB1-5B3BDBAB6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19" y="1285664"/>
            <a:ext cx="4888831" cy="21433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A3FC97-1F61-BFE0-849E-079D3D799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19" y="3525498"/>
            <a:ext cx="4888831" cy="29875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F15332-5211-14C0-FCC3-2510DEED0A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671" y="1285664"/>
            <a:ext cx="4717905" cy="21433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675F71-F78E-51A2-F3C8-ED2DB3C733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671" y="3525497"/>
            <a:ext cx="4717905" cy="298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725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C29B32-B35E-CF77-E207-85B5A8726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298918-7BBE-00E5-C2CC-A76BE25FAD41}"/>
              </a:ext>
            </a:extLst>
          </p:cNvPr>
          <p:cNvSpPr/>
          <p:nvPr/>
        </p:nvSpPr>
        <p:spPr>
          <a:xfrm>
            <a:off x="201443" y="205299"/>
            <a:ext cx="2076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FUNCTION &amp;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0A5BD-EA91-1226-1F8B-1652355F92FC}"/>
              </a:ext>
            </a:extLst>
          </p:cNvPr>
          <p:cNvSpPr/>
          <p:nvPr/>
        </p:nvSpPr>
        <p:spPr>
          <a:xfrm>
            <a:off x="561039" y="474240"/>
            <a:ext cx="28825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01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STRING FUNCTION</a:t>
            </a:r>
          </a:p>
          <a:p>
            <a:endParaRPr lang="en-US" b="1" dirty="0">
              <a:solidFill>
                <a:schemeClr val="bg1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FE624B-4200-FFBF-0BFB-1135CED259F4}"/>
              </a:ext>
            </a:extLst>
          </p:cNvPr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 CONCAT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7AC04-DC33-3220-B2AE-52294EC9C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39" y="1215862"/>
            <a:ext cx="7893150" cy="17066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E8B4EE-6E49-4076-C953-5BF03FD12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39" y="3138373"/>
            <a:ext cx="4203466" cy="351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746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A85F93-9109-D1DD-6B17-BF1A8840C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53F8F8-4C0E-14BA-E832-874986D04E18}"/>
              </a:ext>
            </a:extLst>
          </p:cNvPr>
          <p:cNvSpPr/>
          <p:nvPr/>
        </p:nvSpPr>
        <p:spPr>
          <a:xfrm>
            <a:off x="201443" y="205299"/>
            <a:ext cx="2076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FUNCTION &amp;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1A8A23-4AA9-A49A-B494-B1084EE97231}"/>
              </a:ext>
            </a:extLst>
          </p:cNvPr>
          <p:cNvSpPr/>
          <p:nvPr/>
        </p:nvSpPr>
        <p:spPr>
          <a:xfrm>
            <a:off x="561039" y="474240"/>
            <a:ext cx="2754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02 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E088C6-3907-51D2-8DA7-C764DBF47750}"/>
              </a:ext>
            </a:extLst>
          </p:cNvPr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ROUND OF                                                      02 CEIL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41446D-5A66-3FC5-D340-3F0269BC3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39" y="1255745"/>
            <a:ext cx="4845150" cy="18403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F5FAB2-CFBE-4C0A-28DC-D0272D56D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183" y="1255745"/>
            <a:ext cx="5075675" cy="18403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32DBAEF-831D-F687-A3E8-7FD2C3E480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183" y="3255990"/>
            <a:ext cx="5075675" cy="29041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716CA0B-6806-C328-91DE-E4B51B5E54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39" y="3255989"/>
            <a:ext cx="4845150" cy="290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1067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ABB6A-52DB-72BE-8234-ED223E882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34A6EB-4B23-DBB5-C142-B2220788A929}"/>
              </a:ext>
            </a:extLst>
          </p:cNvPr>
          <p:cNvSpPr/>
          <p:nvPr/>
        </p:nvSpPr>
        <p:spPr>
          <a:xfrm>
            <a:off x="201443" y="205299"/>
            <a:ext cx="2076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FUNCTION &amp;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434D3-9D21-1C07-FCA4-B14941CCEBEA}"/>
              </a:ext>
            </a:extLst>
          </p:cNvPr>
          <p:cNvSpPr/>
          <p:nvPr/>
        </p:nvSpPr>
        <p:spPr>
          <a:xfrm>
            <a:off x="561039" y="474240"/>
            <a:ext cx="2754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02 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4B6C8B-9B78-93B2-67B7-A42761DEC183}"/>
              </a:ext>
            </a:extLst>
          </p:cNvPr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MOD                                    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FFF328-A73B-4026-12E3-1705A0031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39" y="1372814"/>
            <a:ext cx="4786816" cy="16820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60470F-403F-71EC-ED10-2D1AF9F37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39" y="3155414"/>
            <a:ext cx="4786816" cy="232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4516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4DD0F-0B8D-0D6A-644D-3106860E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2CA735-2DA4-0E58-2E6D-C204CF9BBFA9}"/>
              </a:ext>
            </a:extLst>
          </p:cNvPr>
          <p:cNvSpPr/>
          <p:nvPr/>
        </p:nvSpPr>
        <p:spPr>
          <a:xfrm>
            <a:off x="201443" y="205299"/>
            <a:ext cx="2076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FUNCTION &amp;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564E89-9F58-B989-C0D3-FAC756D3C8B7}"/>
              </a:ext>
            </a:extLst>
          </p:cNvPr>
          <p:cNvSpPr/>
          <p:nvPr/>
        </p:nvSpPr>
        <p:spPr>
          <a:xfrm>
            <a:off x="561039" y="474240"/>
            <a:ext cx="2667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03 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FFCDAF-FADB-9502-7185-C8788E48B144}"/>
              </a:ext>
            </a:extLst>
          </p:cNvPr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827CEC-A3F8-3304-EDAC-4E2CD007E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25" y="1004502"/>
            <a:ext cx="5116165" cy="55810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269841-2889-9479-B0C1-AEEF291638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305" y="1004501"/>
            <a:ext cx="4614271" cy="13663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072560-FE1A-6882-226F-F7883D54C0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304" y="2485204"/>
            <a:ext cx="4614271" cy="13663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CCF566-31D1-92D1-91C9-D27215A544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304" y="3965907"/>
            <a:ext cx="4614271" cy="261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7874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2EF31-BAFC-260B-ADC6-4DF1EF1FC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A5B864-B6B0-34E6-05EC-C40038F3E221}"/>
              </a:ext>
            </a:extLst>
          </p:cNvPr>
          <p:cNvSpPr/>
          <p:nvPr/>
        </p:nvSpPr>
        <p:spPr>
          <a:xfrm>
            <a:off x="201443" y="205299"/>
            <a:ext cx="2076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FUNCTION &amp;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709DD8-C412-D805-3FF2-5D3295120236}"/>
              </a:ext>
            </a:extLst>
          </p:cNvPr>
          <p:cNvSpPr/>
          <p:nvPr/>
        </p:nvSpPr>
        <p:spPr>
          <a:xfrm>
            <a:off x="561039" y="474240"/>
            <a:ext cx="26677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  <a:ea typeface="Georgia" pitchFamily="34" charset="-122"/>
                <a:cs typeface="Georgia" pitchFamily="34" charset="-120"/>
              </a:rPr>
              <a:t>03 </a:t>
            </a:r>
            <a:r>
              <a:rPr lang="en-US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6FD709-622C-B2AD-5C40-8C1DDABE43BC}"/>
              </a:ext>
            </a:extLst>
          </p:cNvPr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E14B2C-FB8B-929B-E96F-5C6BCCF72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004500"/>
            <a:ext cx="4546600" cy="53792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5E0869-13AC-F065-D148-49E9DB3A4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919" y="1004500"/>
            <a:ext cx="5141657" cy="25699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938CA4-19AD-3FCF-0DE7-05A8563664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919" y="3641465"/>
            <a:ext cx="5141657" cy="272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630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B1865-E371-A69B-5374-A167AA7F0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4EEC8E-E8FB-8ADC-262E-410E24A84A6C}"/>
              </a:ext>
            </a:extLst>
          </p:cNvPr>
          <p:cNvSpPr/>
          <p:nvPr/>
        </p:nvSpPr>
        <p:spPr>
          <a:xfrm>
            <a:off x="202125" y="3302391"/>
            <a:ext cx="1830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Section 06/07</a:t>
            </a:r>
            <a:endParaRPr lang="en-IN" dirty="0">
              <a:solidFill>
                <a:srgbClr val="00CC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7195D9-1405-9F12-C440-6D8A8085ABE4}"/>
              </a:ext>
            </a:extLst>
          </p:cNvPr>
          <p:cNvSpPr/>
          <p:nvPr/>
        </p:nvSpPr>
        <p:spPr>
          <a:xfrm>
            <a:off x="101600" y="3999077"/>
            <a:ext cx="544411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Windows Functions</a:t>
            </a:r>
            <a:endParaRPr lang="en-US" sz="4000" dirty="0">
              <a:latin typeface="Georgia" panose="020405020504050203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2F6FA0-F389-08A5-BCE5-A9129DC4C4C1}"/>
              </a:ext>
            </a:extLst>
          </p:cNvPr>
          <p:cNvSpPr/>
          <p:nvPr/>
        </p:nvSpPr>
        <p:spPr>
          <a:xfrm>
            <a:off x="119225" y="4710277"/>
            <a:ext cx="56733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9D3DC"/>
                </a:solidFill>
                <a:latin typeface="Arial" pitchFamily="34" charset="0"/>
                <a:cs typeface="Arial" pitchFamily="34" charset="-120"/>
              </a:rPr>
              <a:t>Rank(), DenseRank(), </a:t>
            </a:r>
            <a:r>
              <a:rPr lang="en-US" dirty="0" err="1">
                <a:solidFill>
                  <a:srgbClr val="C9D3DC"/>
                </a:solidFill>
                <a:latin typeface="Arial" pitchFamily="34" charset="0"/>
                <a:cs typeface="Arial" pitchFamily="34" charset="-120"/>
              </a:rPr>
              <a:t>Row_Number</a:t>
            </a:r>
            <a:r>
              <a:rPr lang="en-US" dirty="0">
                <a:solidFill>
                  <a:srgbClr val="C9D3DC"/>
                </a:solidFill>
                <a:latin typeface="Arial" pitchFamily="34" charset="0"/>
                <a:cs typeface="Arial" pitchFamily="34" charset="-120"/>
              </a:rPr>
              <a:t>(), Lag() &amp; Lead()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7596B9-D9B8-4A4C-56E5-91E507BCFA58}"/>
              </a:ext>
            </a:extLst>
          </p:cNvPr>
          <p:cNvCxnSpPr/>
          <p:nvPr/>
        </p:nvCxnSpPr>
        <p:spPr>
          <a:xfrm>
            <a:off x="290286" y="3164114"/>
            <a:ext cx="1944915" cy="0"/>
          </a:xfrm>
          <a:prstGeom prst="line">
            <a:avLst/>
          </a:prstGeom>
          <a:ln w="9525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4430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CB4A9B-2450-1E7D-97D4-303B2193E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F89BCC-AB9C-9337-EBE2-E720BE8368AD}"/>
              </a:ext>
            </a:extLst>
          </p:cNvPr>
          <p:cNvSpPr/>
          <p:nvPr/>
        </p:nvSpPr>
        <p:spPr>
          <a:xfrm>
            <a:off x="201443" y="205299"/>
            <a:ext cx="23407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WINDOWS FUNCTIONS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632C01-F947-63CF-6C57-51C40C927D8A}"/>
              </a:ext>
            </a:extLst>
          </p:cNvPr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5735D0-CFD0-59C4-14F8-830E9C6C8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750" y="1189167"/>
            <a:ext cx="7706801" cy="1457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680049-CA96-6A01-4649-BD3980AA8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750" y="2966930"/>
            <a:ext cx="7706801" cy="33342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856A73-A3A0-5654-4539-346DD4E43BA5}"/>
              </a:ext>
            </a:extLst>
          </p:cNvPr>
          <p:cNvSpPr txBox="1"/>
          <p:nvPr/>
        </p:nvSpPr>
        <p:spPr>
          <a:xfrm>
            <a:off x="201443" y="556855"/>
            <a:ext cx="3821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SYNTAX OF WINDOWS FUNCTION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9307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2AE30-18EC-B5AB-C18A-4B0513D92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FB8017-A877-15DF-68AA-1F836FF65EF7}"/>
              </a:ext>
            </a:extLst>
          </p:cNvPr>
          <p:cNvSpPr/>
          <p:nvPr/>
        </p:nvSpPr>
        <p:spPr>
          <a:xfrm>
            <a:off x="201443" y="205299"/>
            <a:ext cx="23407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WINDOWS FUNCTIONS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F911E2-A4D6-B39B-BD14-16342E033105}"/>
              </a:ext>
            </a:extLst>
          </p:cNvPr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702F1B-5E58-90B3-903A-2D880A3659B1}"/>
              </a:ext>
            </a:extLst>
          </p:cNvPr>
          <p:cNvSpPr txBox="1"/>
          <p:nvPr/>
        </p:nvSpPr>
        <p:spPr>
          <a:xfrm>
            <a:off x="201443" y="556855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01</a:t>
            </a:r>
            <a:r>
              <a:rPr lang="en-US" dirty="0">
                <a:solidFill>
                  <a:schemeClr val="bg1"/>
                </a:solidFill>
              </a:rPr>
              <a:t> RANK()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8E732-1A09-283A-BB3F-02F4E48C3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061236"/>
            <a:ext cx="4454979" cy="22534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AB3015-D1CA-7F3A-5001-C41F40886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696" y="1004501"/>
            <a:ext cx="5192880" cy="23101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BFD6D1-0A70-8F34-D5A7-9188F5B952FB}"/>
              </a:ext>
            </a:extLst>
          </p:cNvPr>
          <p:cNvSpPr txBox="1"/>
          <p:nvPr/>
        </p:nvSpPr>
        <p:spPr>
          <a:xfrm>
            <a:off x="201443" y="3499366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02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DENSE</a:t>
            </a:r>
            <a:r>
              <a:rPr lang="en-US" dirty="0">
                <a:solidFill>
                  <a:schemeClr val="bg1"/>
                </a:solidFill>
              </a:rPr>
              <a:t>RANK()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AAEE09-2D3B-5840-71B8-752F8C5D0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960251"/>
            <a:ext cx="4454979" cy="23408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DCB5B0-885B-8B36-21A1-7E6F0009FD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696" y="3960251"/>
            <a:ext cx="5192880" cy="234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3698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1278F-A9D2-5825-DE78-76C54248A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708B07-06FC-0E5E-716F-09F8CA3841FA}"/>
              </a:ext>
            </a:extLst>
          </p:cNvPr>
          <p:cNvSpPr/>
          <p:nvPr/>
        </p:nvSpPr>
        <p:spPr>
          <a:xfrm>
            <a:off x="201443" y="205299"/>
            <a:ext cx="23407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WINDOWS FUNCTIONS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2A2CD7-1942-ED25-DD30-18EFD4305FE1}"/>
              </a:ext>
            </a:extLst>
          </p:cNvPr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7266E1-8237-2674-7701-8ED9066F4BE7}"/>
              </a:ext>
            </a:extLst>
          </p:cNvPr>
          <p:cNvSpPr txBox="1"/>
          <p:nvPr/>
        </p:nvSpPr>
        <p:spPr>
          <a:xfrm>
            <a:off x="201443" y="556855"/>
            <a:ext cx="2278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03</a:t>
            </a:r>
            <a:r>
              <a:rPr lang="en-US" dirty="0">
                <a:solidFill>
                  <a:schemeClr val="bg1"/>
                </a:solidFill>
              </a:rPr>
              <a:t> ROW_NUMBER()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DCE199-58DD-BE36-A66E-C404BAC26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025834"/>
            <a:ext cx="4943764" cy="24031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17BB44-FC92-E6F6-C702-54ECEC81A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0" y="1025834"/>
            <a:ext cx="4704976" cy="240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056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208810-B4B4-6F99-B588-4A82C4157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6C4081-8207-DD5F-E0E7-D20A10CB05CC}"/>
              </a:ext>
            </a:extLst>
          </p:cNvPr>
          <p:cNvSpPr/>
          <p:nvPr/>
        </p:nvSpPr>
        <p:spPr>
          <a:xfrm>
            <a:off x="201443" y="205299"/>
            <a:ext cx="23407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WINDOWS FUNCTIONS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F2519D-A93C-70E7-197A-5D8777471C96}"/>
              </a:ext>
            </a:extLst>
          </p:cNvPr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F0E2C-CC4A-1335-3E12-9BC9765DDD2F}"/>
              </a:ext>
            </a:extLst>
          </p:cNvPr>
          <p:cNvSpPr txBox="1"/>
          <p:nvPr/>
        </p:nvSpPr>
        <p:spPr>
          <a:xfrm>
            <a:off x="201443" y="556855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04</a:t>
            </a:r>
            <a:r>
              <a:rPr lang="en-US" dirty="0">
                <a:solidFill>
                  <a:schemeClr val="bg1"/>
                </a:solidFill>
              </a:rPr>
              <a:t> LAG()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1A1AA4-8E2E-D125-00DC-89A3E42DF8AB}"/>
              </a:ext>
            </a:extLst>
          </p:cNvPr>
          <p:cNvSpPr txBox="1"/>
          <p:nvPr/>
        </p:nvSpPr>
        <p:spPr>
          <a:xfrm>
            <a:off x="201443" y="3499366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05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LEAD</a:t>
            </a:r>
            <a:r>
              <a:rPr lang="en-US" dirty="0">
                <a:solidFill>
                  <a:schemeClr val="bg1"/>
                </a:solidFill>
              </a:rPr>
              <a:t>()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B32EFD-627A-9377-5A37-D6C5FC3A2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09" y="1016842"/>
            <a:ext cx="5376236" cy="2341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9E19BB-B31E-BA99-B729-B5F219B8F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047" y="1004500"/>
            <a:ext cx="4593529" cy="23541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DBF9D7-B904-D7F9-6546-1F8BA79A41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09" y="4020778"/>
            <a:ext cx="5353797" cy="25185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98C0E3-710D-33B8-DB13-F10B9F13D3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047" y="4009430"/>
            <a:ext cx="4691462" cy="252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980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7A2A4-744C-397D-F6D4-DE50D7EFD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215922B-E2D0-167F-FCBA-ACC1C682926D}"/>
              </a:ext>
            </a:extLst>
          </p:cNvPr>
          <p:cNvSpPr/>
          <p:nvPr/>
        </p:nvSpPr>
        <p:spPr>
          <a:xfrm>
            <a:off x="202125" y="3302391"/>
            <a:ext cx="1830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Section 07/07</a:t>
            </a:r>
            <a:endParaRPr lang="en-IN" dirty="0">
              <a:solidFill>
                <a:srgbClr val="00CC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B2861E-5DD3-7D36-EC45-A3ABD46F6F3C}"/>
              </a:ext>
            </a:extLst>
          </p:cNvPr>
          <p:cNvSpPr/>
          <p:nvPr/>
        </p:nvSpPr>
        <p:spPr>
          <a:xfrm>
            <a:off x="101600" y="3999077"/>
            <a:ext cx="3894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SUBQUERIES</a:t>
            </a:r>
            <a:endParaRPr lang="en-US" sz="4000" dirty="0">
              <a:latin typeface="Georgia" panose="020405020504050203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2B1641-D71B-5580-7A20-0FE239CA05BD}"/>
              </a:ext>
            </a:extLst>
          </p:cNvPr>
          <p:cNvSpPr/>
          <p:nvPr/>
        </p:nvSpPr>
        <p:spPr>
          <a:xfrm>
            <a:off x="119225" y="4710277"/>
            <a:ext cx="4403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9D3DC"/>
                </a:solidFill>
                <a:latin typeface="Arial" pitchFamily="34" charset="0"/>
                <a:cs typeface="Arial" pitchFamily="34" charset="-120"/>
              </a:rPr>
              <a:t>SingleRow, MultiRow, Correlated, Nested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5DDF21-3772-F51F-F028-603701F5C6A9}"/>
              </a:ext>
            </a:extLst>
          </p:cNvPr>
          <p:cNvCxnSpPr/>
          <p:nvPr/>
        </p:nvCxnSpPr>
        <p:spPr>
          <a:xfrm>
            <a:off x="290286" y="3164114"/>
            <a:ext cx="1944915" cy="0"/>
          </a:xfrm>
          <a:prstGeom prst="line">
            <a:avLst/>
          </a:prstGeom>
          <a:ln w="9525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6001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496840-930C-5702-FDC5-D4E89492B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E0E6F6-ECB8-E927-34C0-64E865F3AB5C}"/>
              </a:ext>
            </a:extLst>
          </p:cNvPr>
          <p:cNvSpPr/>
          <p:nvPr/>
        </p:nvSpPr>
        <p:spPr>
          <a:xfrm>
            <a:off x="201443" y="205299"/>
            <a:ext cx="145745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SUBQUERIES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18C1C4-3A44-2301-CB4D-61BAF1FA542A}"/>
              </a:ext>
            </a:extLst>
          </p:cNvPr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F7C8C5-F2A8-8A8B-5D32-2923143030E7}"/>
              </a:ext>
            </a:extLst>
          </p:cNvPr>
          <p:cNvSpPr txBox="1"/>
          <p:nvPr/>
        </p:nvSpPr>
        <p:spPr>
          <a:xfrm>
            <a:off x="201443" y="556855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04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SingleRow()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9ADBA4-FB9A-3F17-3135-F64AF20CEA90}"/>
              </a:ext>
            </a:extLst>
          </p:cNvPr>
          <p:cNvSpPr txBox="1"/>
          <p:nvPr/>
        </p:nvSpPr>
        <p:spPr>
          <a:xfrm>
            <a:off x="201443" y="3499366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05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Multi-ROW</a:t>
            </a:r>
            <a:r>
              <a:rPr lang="en-US" dirty="0">
                <a:solidFill>
                  <a:schemeClr val="bg1"/>
                </a:solidFill>
              </a:rPr>
              <a:t>()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FFB14D-56B2-008C-0592-2759C137E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020106"/>
            <a:ext cx="4563112" cy="2216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67CF0A-B681-EA8A-7B07-5A4CBF420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138" y="988172"/>
            <a:ext cx="4844438" cy="22482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F16FDAD-7F3F-138F-E425-7AF39CF70F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009057"/>
            <a:ext cx="4563112" cy="24328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71F6CA-4BAA-BA8D-828F-1BB72BBD83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893" y="4009058"/>
            <a:ext cx="4678683" cy="243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453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80F1EE-17CB-6709-A33E-708E0B3C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02AB60-757B-1EDE-7187-7BBE17399507}"/>
              </a:ext>
            </a:extLst>
          </p:cNvPr>
          <p:cNvSpPr/>
          <p:nvPr/>
        </p:nvSpPr>
        <p:spPr>
          <a:xfrm>
            <a:off x="201443" y="205299"/>
            <a:ext cx="145745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kern="0" spc="200" dirty="0">
                <a:solidFill>
                  <a:srgbClr val="00CC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SUBQUERIES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1F1F9E-0766-8626-F3E7-D17765748E32}"/>
              </a:ext>
            </a:extLst>
          </p:cNvPr>
          <p:cNvSpPr/>
          <p:nvPr/>
        </p:nvSpPr>
        <p:spPr>
          <a:xfrm>
            <a:off x="533400" y="819835"/>
            <a:ext cx="9861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E14212-37DF-CE1A-CD32-FF0D4C3C97C3}"/>
              </a:ext>
            </a:extLst>
          </p:cNvPr>
          <p:cNvSpPr txBox="1"/>
          <p:nvPr/>
        </p:nvSpPr>
        <p:spPr>
          <a:xfrm>
            <a:off x="201443" y="556855"/>
            <a:ext cx="3223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04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Correlated Subquery()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09E16F-B076-CA5B-E09F-58C3D94638CF}"/>
              </a:ext>
            </a:extLst>
          </p:cNvPr>
          <p:cNvSpPr txBox="1"/>
          <p:nvPr/>
        </p:nvSpPr>
        <p:spPr>
          <a:xfrm>
            <a:off x="201443" y="3499366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CC00"/>
                </a:solidFill>
                <a:latin typeface="Consolas" panose="020B0609020204030204" pitchFamily="49" charset="0"/>
              </a:rPr>
              <a:t>05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Nested Subquery</a:t>
            </a:r>
            <a:r>
              <a:rPr lang="en-US" dirty="0">
                <a:solidFill>
                  <a:schemeClr val="bg1"/>
                </a:solidFill>
              </a:rPr>
              <a:t>()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3D9467-A478-894A-DA8B-A283422D8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29" y="1000744"/>
            <a:ext cx="5174289" cy="24282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59F532-EAC8-CC1B-4459-B8AE19F7E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5188" y="1000744"/>
            <a:ext cx="4469388" cy="24282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FFFE13-78FB-B3FB-90B0-1C4BEAB191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64" y="4014826"/>
            <a:ext cx="5303982" cy="22863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7CB295E-11E5-8E2B-A460-820167DC12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733" y="4014826"/>
            <a:ext cx="4330843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573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9982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1169</TotalTime>
  <Words>1055</Words>
  <Application>Microsoft Office PowerPoint</Application>
  <PresentationFormat>Widescreen</PresentationFormat>
  <Paragraphs>158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Century Gothic</vt:lpstr>
      <vt:lpstr>Consolas</vt:lpstr>
      <vt:lpstr>Georgia</vt:lpstr>
      <vt:lpstr>Times New Roman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rohan patil</cp:lastModifiedBy>
  <cp:revision>86</cp:revision>
  <dcterms:created xsi:type="dcterms:W3CDTF">2026-08-12T04:20:41Z</dcterms:created>
  <dcterms:modified xsi:type="dcterms:W3CDTF">2026-08-16T16:07:46Z</dcterms:modified>
</cp:coreProperties>
</file>